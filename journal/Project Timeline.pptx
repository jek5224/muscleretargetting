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Muscle Imitation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6C5CE7"/>
                </a:solidFill>
                <a:latin typeface="Calibri"/>
              </a:defRPr>
            </a:pPr>
            <a:r>
              <a:t>Project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C0"/>
                </a:solidFill>
                <a:latin typeface="Calibri"/>
              </a:defRPr>
            </a:pPr>
            <a:r>
              <a:t>989 commits  ·  24 working days  ·  January – March 2026</a:t>
            </a:r>
          </a:p>
        </p:txBody>
      </p:sp>
      <p:pic>
        <p:nvPicPr>
          <p:cNvPr id="6" name="Picture 5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846320"/>
            <a:ext cx="10332720" cy="2834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097280" cy="411480"/>
          </a:xfrm>
          <a:prstGeom prst="roundRect">
            <a:avLst>
              <a:gd name="adj" fmla="val 30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Contour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January 7–22  ·  12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286000" cy="2743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0E0F0"/>
                </a:solidFill>
                <a:latin typeface="Calibri"/>
              </a:defRPr>
            </a:pPr>
            <a:r>
              <a:t>→  Scalar field contour detection</a:t>
            </a:r>
          </a:p>
          <a:p>
            <a:pPr>
              <a:spcAft>
                <a:spcPts val="1000"/>
              </a:spcAft>
              <a:defRPr sz="1700">
                <a:solidFill>
                  <a:srgbClr val="E0E0F0"/>
                </a:solidFill>
                <a:latin typeface="Calibri"/>
              </a:defRPr>
            </a:pPr>
            <a:r>
              <a:t>→  Gap filling and transition detection</a:t>
            </a:r>
          </a:p>
          <a:p>
            <a:pPr>
              <a:spcAft>
                <a:spcPts val="1000"/>
              </a:spcAft>
              <a:defRPr sz="1700">
                <a:solidFill>
                  <a:srgbClr val="E0E0F0"/>
                </a:solidFill>
                <a:latin typeface="Calibri"/>
              </a:defRPr>
            </a:pPr>
            <a:r>
              <a:t>→  M-to-N cutting for complex topologies</a:t>
            </a:r>
          </a:p>
          <a:p>
            <a:pPr>
              <a:spcAft>
                <a:spcPts val="1000"/>
              </a:spcAft>
              <a:defRPr sz="1700">
                <a:solidFill>
                  <a:srgbClr val="E0E0F0"/>
                </a:solidFill>
                <a:latin typeface="Calibri"/>
              </a:defRPr>
            </a:pPr>
            <a:r>
              <a:t>→  Bounding plane optimization</a:t>
            </a:r>
          </a:p>
          <a:p>
            <a:pPr>
              <a:spcAft>
                <a:spcPts val="1000"/>
              </a:spcAft>
              <a:defRPr sz="1700">
                <a:solidFill>
                  <a:srgbClr val="E0E0F0"/>
                </a:solidFill>
                <a:latin typeface="Calibri"/>
              </a:defRPr>
            </a:pPr>
            <a:r>
              <a:t>→  Cut → Select → Build Fibers pipeline</a:t>
            </a:r>
          </a:p>
          <a:p>
            <a:pPr>
              <a:spcAft>
                <a:spcPts val="1000"/>
              </a:spcAft>
              <a:defRPr sz="1700">
                <a:solidFill>
                  <a:srgbClr val="E0E0F0"/>
                </a:solidFill>
                <a:latin typeface="Calibri"/>
              </a:defRPr>
            </a:pPr>
            <a:r>
              <a:t>→  Manual cutting window &amp; Neck Viz</a:t>
            </a:r>
          </a:p>
          <a:p>
            <a:pPr>
              <a:spcAft>
                <a:spcPts val="1000"/>
              </a:spcAft>
              <a:defRPr sz="1700">
                <a:solidFill>
                  <a:srgbClr val="E0E0F0"/>
                </a:solidFill>
                <a:latin typeface="Calibri"/>
              </a:defRPr>
            </a:pPr>
            <a:r>
              <a:t>→  Mesh stitching and tetrahedralization</a:t>
            </a:r>
          </a:p>
        </p:txBody>
      </p:sp>
      <p:pic>
        <p:nvPicPr>
          <p:cNvPr id="7" name="Picture 6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760720" cy="15802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097280" cy="411480"/>
          </a:xfrm>
          <a:prstGeom prst="roundRect">
            <a:avLst>
              <a:gd name="adj" fmla="val 30000"/>
            </a:avLst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Rendering &amp; UI Polish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January 29–30  ·  2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286000" cy="27432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Two-pass face culling for transparency</a:t>
            </a:r>
          </a:p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Vertex array drawing optimization</a:t>
            </a:r>
          </a:p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Bulk muscle UI by L/R pairs &amp; body parts</a:t>
            </a:r>
          </a:p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1:1 simple muscle edge case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097280" cy="411480"/>
          </a:xfrm>
          <a:prstGeom prst="roundRect">
            <a:avLst>
              <a:gd name="adj" fmla="val 30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Motion Playback &amp; FEM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February 3–6  ·  3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286000" cy="2743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BVH motion browser with joint mapping</a:t>
            </a:r>
          </a:p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Per-frame tet deformation baking</a:t>
            </a:r>
          </a:p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Waypoint system for fiber tracking</a:t>
            </a:r>
          </a:p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Refactored ~6,680 lines into zygote_mesh_ui.py</a:t>
            </a:r>
          </a:p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Mesh quality: disconnected verts, gap closing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097280" cy="411480"/>
          </a:xfrm>
          <a:prstGeom prst="roundRect">
            <a:avLst>
              <a:gd name="adj" fmla="val 30000"/>
            </a:avLst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Pipeline Animation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February 9–12  ·  4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286000" cy="27432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10+ animated visualization steps</a:t>
            </a:r>
          </a:p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Compute-then-replay architecture</a:t>
            </a:r>
          </a:p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Quaternion slerp for BP interpolation</a:t>
            </a:r>
          </a:p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Play All with state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097280" cy="411480"/>
          </a:xfrm>
          <a:prstGeom prst="roundRect">
            <a:avLst>
              <a:gd name="adj" fmla="val 30000"/>
            </a:avLst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ARAP Solver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February 20  ·  1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286000" cy="27432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Fused Taichi kernels &amp; CSR gather</a:t>
            </a:r>
          </a:p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Warm-starting from previous frame</a:t>
            </a:r>
          </a:p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Reduced free-DOF system with scipy splu</a:t>
            </a:r>
          </a:p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Topology caching eliminates per-frame rebuild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097280" cy="411480"/>
          </a:xfrm>
          <a:prstGeom prst="roundRect">
            <a:avLst>
              <a:gd name="adj" fmla="val 30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Neural Network Distillation —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February 26 – March 3  ·  Per-muscle SIREN → LeakyReLU residual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286000" cy="2743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F0"/>
                </a:solidFill>
                <a:latin typeface="Calibri"/>
              </a:defRPr>
            </a:pPr>
            <a:r>
              <a:t>→  Separate decoder per muscle</a:t>
            </a:r>
          </a:p>
          <a:p>
            <a:pPr>
              <a:spcAft>
                <a:spcPts val="800"/>
              </a:spcAft>
              <a:defRPr sz="1600">
                <a:solidFill>
                  <a:srgbClr val="E0E0F0"/>
                </a:solidFill>
                <a:latin typeface="Calibri"/>
              </a:defRPr>
            </a:pPr>
            <a:r>
              <a:t>→  4 DOF input (hip + knee)</a:t>
            </a:r>
          </a:p>
          <a:p>
            <a:pPr>
              <a:spcAft>
                <a:spcPts val="800"/>
              </a:spcAft>
              <a:defRPr sz="1600">
                <a:solidFill>
                  <a:srgbClr val="E0E0F0"/>
                </a:solidFill>
                <a:latin typeface="Calibri"/>
              </a:defRPr>
            </a:pPr>
            <a:r>
              <a:t>→  Raw vertex coordinate output</a:t>
            </a:r>
          </a:p>
          <a:p>
            <a:pPr>
              <a:spcAft>
                <a:spcPts val="800"/>
              </a:spcAft>
              <a:defRPr sz="1600">
                <a:solidFill>
                  <a:srgbClr val="E0E0F0"/>
                </a:solidFill>
                <a:latin typeface="Calibri"/>
              </a:defRPr>
            </a:pPr>
            <a:r>
              <a:t>→  SIREN diverged → LeakyReLU ResBlocks</a:t>
            </a:r>
          </a:p>
        </p:txBody>
      </p:sp>
      <p:pic>
        <p:nvPicPr>
          <p:cNvPr id="7" name="Picture 6" descr="nn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0"/>
            <a:ext cx="10972800" cy="4410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097280" cy="411480"/>
          </a:xfrm>
          <a:prstGeom prst="roundRect">
            <a:avLst>
              <a:gd name="adj" fmla="val 30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Neural Network Distillation —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Shared decoder + muscle embedding + PCA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286000" cy="2743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F0"/>
                </a:solidFill>
                <a:latin typeface="Calibri"/>
              </a:defRPr>
            </a:pPr>
            <a:r>
              <a:t>→  Single shared decoder with muscle embeddings</a:t>
            </a:r>
          </a:p>
          <a:p>
            <a:pPr>
              <a:spcAft>
                <a:spcPts val="800"/>
              </a:spcAft>
              <a:defRPr sz="1600">
                <a:solidFill>
                  <a:srgbClr val="E0E0F0"/>
                </a:solidFill>
                <a:latin typeface="Calibri"/>
              </a:defRPr>
            </a:pPr>
            <a:r>
              <a:t>→  20 DOF input with sliding window (W=5)</a:t>
            </a:r>
          </a:p>
          <a:p>
            <a:pPr>
              <a:spcAft>
                <a:spcPts val="800"/>
              </a:spcAft>
              <a:defRPr sz="1600">
                <a:solidFill>
                  <a:srgbClr val="E0E0F0"/>
                </a:solidFill>
                <a:latin typeface="Calibri"/>
              </a:defRPr>
            </a:pPr>
            <a:r>
              <a:t>→  PCA coefficient output (k=64)</a:t>
            </a:r>
          </a:p>
          <a:p>
            <a:pPr>
              <a:spcAft>
                <a:spcPts val="800"/>
              </a:spcAft>
              <a:defRPr sz="1600">
                <a:solidFill>
                  <a:srgbClr val="E0E0F0"/>
                </a:solidFill>
                <a:latin typeface="Calibri"/>
              </a:defRPr>
            </a:pPr>
            <a:r>
              <a:t>→  Linear baseline + residual learning</a:t>
            </a:r>
          </a:p>
          <a:p>
            <a:pPr>
              <a:spcAft>
                <a:spcPts val="800"/>
              </a:spcAft>
              <a:defRPr sz="1600">
                <a:solidFill>
                  <a:srgbClr val="E0E0F0"/>
                </a:solidFill>
                <a:latin typeface="Calibri"/>
              </a:defRPr>
            </a:pPr>
            <a:r>
              <a:t>→  Temporal consistency loss</a:t>
            </a:r>
          </a:p>
        </p:txBody>
      </p:sp>
      <p:pic>
        <p:nvPicPr>
          <p:cNvPr id="7" name="Picture 6" descr="n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114800"/>
            <a:ext cx="11430000" cy="39275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Training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V2 combined dance + locomotion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286000" cy="2743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0972800" cy="30826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F0"/>
                </a:solidFill>
                <a:latin typeface="Calibri"/>
              </a:defRPr>
            </a:pPr>
            <a:r>
              <a:t>→  Rapid convergence: reconstruction and temporal losses drop within first 100 steps</a:t>
            </a:r>
          </a:p>
          <a:p>
            <a:pPr>
              <a:spcAft>
                <a:spcPts val="800"/>
              </a:spcAft>
              <a:defRPr sz="1600">
                <a:solidFill>
                  <a:srgbClr val="E0E0F0"/>
                </a:solidFill>
                <a:latin typeface="Calibri"/>
              </a:defRPr>
            </a:pPr>
            <a:r>
              <a:t>→  Cosine decay schedule, dropout 0.1, input noise augmentation (σ=0.02)</a:t>
            </a:r>
          </a:p>
          <a:p>
            <a:pPr>
              <a:spcAft>
                <a:spcPts val="800"/>
              </a:spcAft>
              <a:defRPr sz="1600">
                <a:solidFill>
                  <a:srgbClr val="E0E0F0"/>
                </a:solidFill>
                <a:latin typeface="Calibri"/>
              </a:defRPr>
            </a:pPr>
            <a:r>
              <a:t>→  Real-time NN inference replaces expensive per-frame FEM simulation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097280" cy="411480"/>
          </a:xfrm>
          <a:prstGeom prst="roundRect">
            <a:avLst>
              <a:gd name="adj" fmla="val 30000"/>
            </a:avLst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Batch Baking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March 3–4  ·  2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286000" cy="27432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82 BVH files × 4 muscle regions</a:t>
            </a:r>
          </a:p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5 GPUs via Slurm (RTX 6000 Ada)</a:t>
            </a:r>
          </a:p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Per-region parallel: L/R UpLeg, L/R LowLeg</a:t>
            </a:r>
          </a:p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Sync-and-delete: 84 GB server → 115 GB output</a:t>
            </a:r>
          </a:p>
          <a:p>
            <a:pPr>
              <a:spcAft>
                <a:spcPts val="1200"/>
              </a:spcAft>
              <a:defRPr sz="1800">
                <a:solidFill>
                  <a:srgbClr val="E0E0F0"/>
                </a:solidFill>
                <a:latin typeface="Calibri"/>
              </a:defRPr>
            </a:pPr>
            <a:r>
              <a:t>→  Disk space guards with auto-cancellation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Development Activity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2743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0972800" cy="2214547"/>
          </a:xfrm>
          <a:prstGeom prst="rect">
            <a:avLst/>
          </a:prstGeom>
        </p:spPr>
      </p:pic>
      <p:pic>
        <p:nvPicPr>
          <p:cNvPr id="5" name="Picture 4" descr="code_st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4720"/>
            <a:ext cx="10972800" cy="44441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0" y="1554480"/>
            <a:ext cx="2743200" cy="36576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6C5CE7"/>
                </a:solidFill>
                <a:latin typeface="Calibri"/>
              </a:defRPr>
            </a:pPr>
            <a:r>
              <a:t>989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0C0"/>
                </a:solidFill>
                <a:latin typeface="Calibri"/>
              </a:defRPr>
            </a:pPr>
            <a:r>
              <a:t>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6C5CE7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0C0"/>
                </a:solidFill>
                <a:latin typeface="Calibri"/>
              </a:defRPr>
            </a:pPr>
            <a:r>
              <a:t>Working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0116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6C5CE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0C0"/>
                </a:solidFill>
                <a:latin typeface="Calibri"/>
              </a:defRPr>
            </a:pPr>
            <a:r>
              <a:t>Phases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0E0F0"/>
                </a:solidFill>
                <a:latin typeface="Calibri"/>
              </a:defRPr>
            </a:pPr>
            <a:r>
              <a:t>Contour Processing  →  Rendering  →  Motion &amp; FEM Simulation</a:t>
            </a:r>
          </a:p>
          <a:p>
            <a:pPr>
              <a:spcAft>
                <a:spcPts val="1400"/>
              </a:spcAft>
              <a:defRPr sz="2000">
                <a:solidFill>
                  <a:srgbClr val="E0E0F0"/>
                </a:solidFill>
                <a:latin typeface="Calibri"/>
              </a:defRPr>
            </a:pPr>
            <a:r>
              <a:t>Animation System  →  ARAP Solver Optimization</a:t>
            </a:r>
          </a:p>
          <a:p>
            <a:pPr>
              <a:spcAft>
                <a:spcPts val="1400"/>
              </a:spcAft>
              <a:defRPr sz="2000">
                <a:solidFill>
                  <a:srgbClr val="E0E0F0"/>
                </a:solidFill>
                <a:latin typeface="Calibri"/>
              </a:defRPr>
            </a:pPr>
            <a:r>
              <a:t>Neural Network Distillation (V1 → V2)  →  Batch Baking at Scale</a:t>
            </a:r>
          </a:p>
        </p:txBody>
      </p:sp>
      <p:pic>
        <p:nvPicPr>
          <p:cNvPr id="11" name="Picture 10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303520"/>
            <a:ext cx="10332720" cy="2834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